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61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4/17/2026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4/17/2026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4/17/2026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CBFB6-DB9E-F934-DFC2-3EF19140D91F}"/>
              </a:ext>
            </a:extLst>
          </p:cNvPr>
          <p:cNvSpPr>
            <a:spLocks noGrp="1"/>
          </p:cNvSpPr>
          <p:nvPr>
            <p:ph type="ctrTitle"/>
          </p:nvPr>
        </p:nvSpPr>
        <p:spPr/>
        <p:txBody>
          <a:bodyPr/>
          <a:lstStyle/>
          <a:p>
            <a:r>
              <a:rPr lang="en-US" dirty="0"/>
              <a:t>Regression </a:t>
            </a:r>
          </a:p>
        </p:txBody>
      </p:sp>
      <p:sp>
        <p:nvSpPr>
          <p:cNvPr id="3" name="Subtitle 2">
            <a:extLst>
              <a:ext uri="{FF2B5EF4-FFF2-40B4-BE49-F238E27FC236}">
                <a16:creationId xmlns:a16="http://schemas.microsoft.com/office/drawing/2014/main" id="{4EFBA8AE-61C9-E07A-3910-0914872F7D78}"/>
              </a:ext>
            </a:extLst>
          </p:cNvPr>
          <p:cNvSpPr>
            <a:spLocks noGrp="1"/>
          </p:cNvSpPr>
          <p:nvPr>
            <p:ph type="subTitle" idx="1"/>
          </p:nvPr>
        </p:nvSpPr>
        <p:spPr/>
        <p:txBody>
          <a:bodyPr/>
          <a:lstStyle/>
          <a:p>
            <a:r>
              <a:rPr lang="en-US" dirty="0"/>
              <a:t>Prepared by baharia</a:t>
            </a:r>
          </a:p>
        </p:txBody>
      </p:sp>
    </p:spTree>
    <p:extLst>
      <p:ext uri="{BB962C8B-B14F-4D97-AF65-F5344CB8AC3E}">
        <p14:creationId xmlns:p14="http://schemas.microsoft.com/office/powerpoint/2010/main" val="4155414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AFAA1-3B9B-D33D-8214-3F3CA4ED23DE}"/>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C3A1BAFD-5DF0-11FB-3458-E34000C41717}"/>
              </a:ext>
            </a:extLst>
          </p:cNvPr>
          <p:cNvSpPr>
            <a:spLocks noGrp="1"/>
          </p:cNvSpPr>
          <p:nvPr>
            <p:ph idx="1"/>
          </p:nvPr>
        </p:nvSpPr>
        <p:spPr/>
        <p:txBody>
          <a:bodyPr/>
          <a:lstStyle/>
          <a:p>
            <a:r>
              <a:rPr lang="en-US" b="1" dirty="0"/>
              <a:t>Regression</a:t>
            </a:r>
            <a:r>
              <a:rPr lang="en-US" dirty="0"/>
              <a:t> is a method used to </a:t>
            </a:r>
            <a:r>
              <a:rPr lang="en-US" b="1" dirty="0"/>
              <a:t>predict a continuous value</a:t>
            </a:r>
            <a:r>
              <a:rPr lang="en-US" dirty="0"/>
              <a:t> (a number) based on one or more input variables. At its core, </a:t>
            </a:r>
            <a:r>
              <a:rPr lang="en-US" b="1" dirty="0"/>
              <a:t>regression</a:t>
            </a:r>
            <a:r>
              <a:rPr lang="en-US" dirty="0"/>
              <a:t> is a statistical method used to model the relationship between a </a:t>
            </a:r>
            <a:r>
              <a:rPr lang="en-US" b="1" dirty="0"/>
              <a:t>dependent variable</a:t>
            </a:r>
            <a:r>
              <a:rPr lang="en-US" dirty="0"/>
              <a:t> (the outcome you want to predict) and one or more </a:t>
            </a:r>
            <a:r>
              <a:rPr lang="en-US" b="1" dirty="0"/>
              <a:t>independent variables</a:t>
            </a:r>
            <a:r>
              <a:rPr lang="en-US" dirty="0"/>
              <a:t> (the factors that influence that outcome) In this chapter you will learn how to use linear models in regression problems. </a:t>
            </a:r>
          </a:p>
          <a:p>
            <a:r>
              <a:rPr lang="en-US" dirty="0"/>
              <a:t>First, we will examine simple linear regression, which models the relationship between a response variable and single explanatory variable. Next, we will discuss multiple linear regression, a generalization of simple linear regression that can support more than one explanatory variable. Then, we will discuss polynomial regression, a special case of multiple linear regression that can effectively model nonlinear relationships.</a:t>
            </a:r>
          </a:p>
        </p:txBody>
      </p:sp>
    </p:spTree>
    <p:extLst>
      <p:ext uri="{BB962C8B-B14F-4D97-AF65-F5344CB8AC3E}">
        <p14:creationId xmlns:p14="http://schemas.microsoft.com/office/powerpoint/2010/main" val="1391386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98A5E-C994-EC04-AE6F-0B3876A26A52}"/>
              </a:ext>
            </a:extLst>
          </p:cNvPr>
          <p:cNvSpPr>
            <a:spLocks noGrp="1"/>
          </p:cNvSpPr>
          <p:nvPr>
            <p:ph type="title"/>
          </p:nvPr>
        </p:nvSpPr>
        <p:spPr/>
        <p:txBody>
          <a:bodyPr/>
          <a:lstStyle/>
          <a:p>
            <a:r>
              <a:rPr lang="en-US" dirty="0"/>
              <a:t>TYPES OF REGRESSION</a:t>
            </a:r>
          </a:p>
        </p:txBody>
      </p:sp>
      <p:sp>
        <p:nvSpPr>
          <p:cNvPr id="3" name="Content Placeholder 2">
            <a:extLst>
              <a:ext uri="{FF2B5EF4-FFF2-40B4-BE49-F238E27FC236}">
                <a16:creationId xmlns:a16="http://schemas.microsoft.com/office/drawing/2014/main" id="{935FF854-BD7B-FD4F-5559-BB56E3A8833B}"/>
              </a:ext>
            </a:extLst>
          </p:cNvPr>
          <p:cNvSpPr>
            <a:spLocks noGrp="1"/>
          </p:cNvSpPr>
          <p:nvPr>
            <p:ph idx="1"/>
          </p:nvPr>
        </p:nvSpPr>
        <p:spPr/>
        <p:txBody>
          <a:bodyPr/>
          <a:lstStyle/>
          <a:p>
            <a:r>
              <a:rPr lang="en-US" dirty="0"/>
              <a:t>There are three types of regression which are common known these types are</a:t>
            </a:r>
          </a:p>
          <a:p>
            <a:pPr lvl="1"/>
            <a:r>
              <a:rPr lang="en-US" dirty="0"/>
              <a:t>Simple linear regression</a:t>
            </a:r>
          </a:p>
          <a:p>
            <a:pPr lvl="1"/>
            <a:r>
              <a:rPr lang="en-US" dirty="0"/>
              <a:t>Multiple linear regression</a:t>
            </a:r>
          </a:p>
          <a:p>
            <a:pPr lvl="1"/>
            <a:r>
              <a:rPr lang="en-US" dirty="0"/>
              <a:t>Polynomial regression</a:t>
            </a:r>
          </a:p>
          <a:p>
            <a:pPr lvl="1"/>
            <a:endParaRPr lang="en-US" dirty="0"/>
          </a:p>
        </p:txBody>
      </p:sp>
    </p:spTree>
    <p:extLst>
      <p:ext uri="{BB962C8B-B14F-4D97-AF65-F5344CB8AC3E}">
        <p14:creationId xmlns:p14="http://schemas.microsoft.com/office/powerpoint/2010/main" val="3583193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CCDD9-E86C-B476-1029-59C47D91753F}"/>
              </a:ext>
            </a:extLst>
          </p:cNvPr>
          <p:cNvSpPr>
            <a:spLocks noGrp="1"/>
          </p:cNvSpPr>
          <p:nvPr>
            <p:ph type="title"/>
          </p:nvPr>
        </p:nvSpPr>
        <p:spPr/>
        <p:txBody>
          <a:bodyPr/>
          <a:lstStyle/>
          <a:p>
            <a:r>
              <a:rPr lang="en-US" dirty="0"/>
              <a:t>Simple linear regression</a:t>
            </a:r>
          </a:p>
        </p:txBody>
      </p:sp>
      <p:sp>
        <p:nvSpPr>
          <p:cNvPr id="3" name="Content Placeholder 2">
            <a:extLst>
              <a:ext uri="{FF2B5EF4-FFF2-40B4-BE49-F238E27FC236}">
                <a16:creationId xmlns:a16="http://schemas.microsoft.com/office/drawing/2014/main" id="{57BA34F6-10C3-E4DA-11CF-2F945C1E72D7}"/>
              </a:ext>
            </a:extLst>
          </p:cNvPr>
          <p:cNvSpPr>
            <a:spLocks noGrp="1"/>
          </p:cNvSpPr>
          <p:nvPr>
            <p:ph idx="1"/>
          </p:nvPr>
        </p:nvSpPr>
        <p:spPr/>
        <p:txBody>
          <a:bodyPr/>
          <a:lstStyle/>
          <a:p>
            <a:r>
              <a:rPr lang="en-US" b="1" dirty="0"/>
              <a:t>simple linear regression</a:t>
            </a:r>
            <a:r>
              <a:rPr lang="en-US" dirty="0"/>
              <a:t>. Simple linear regression can be used to model a linear relationship between one response variable and one explanatory variable. Linear regression has been applied to many important scientific and social problems; the example that we will consider is probably not one of them.</a:t>
            </a:r>
          </a:p>
          <a:p>
            <a:r>
              <a:rPr lang="en-US" dirty="0"/>
              <a:t>Suppose you wish to know the price of a pizza so we will use simple linear regression instead to predict the price of a pizza based on an attribute of the pizza that we can observe. Assume your  have the data as follows </a:t>
            </a:r>
          </a:p>
        </p:txBody>
      </p:sp>
    </p:spTree>
    <p:extLst>
      <p:ext uri="{BB962C8B-B14F-4D97-AF65-F5344CB8AC3E}">
        <p14:creationId xmlns:p14="http://schemas.microsoft.com/office/powerpoint/2010/main" val="71721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2B776-2EAC-BE51-A42A-27448A2FFABC}"/>
              </a:ext>
            </a:extLst>
          </p:cNvPr>
          <p:cNvSpPr>
            <a:spLocks noGrp="1"/>
          </p:cNvSpPr>
          <p:nvPr>
            <p:ph type="title"/>
          </p:nvPr>
        </p:nvSpPr>
        <p:spPr/>
        <p:txBody>
          <a:bodyPr/>
          <a:lstStyle/>
          <a:p>
            <a:r>
              <a:rPr lang="en-US" dirty="0"/>
              <a:t>Cont.</a:t>
            </a:r>
          </a:p>
        </p:txBody>
      </p:sp>
      <p:pic>
        <p:nvPicPr>
          <p:cNvPr id="5" name="Content Placeholder 4">
            <a:extLst>
              <a:ext uri="{FF2B5EF4-FFF2-40B4-BE49-F238E27FC236}">
                <a16:creationId xmlns:a16="http://schemas.microsoft.com/office/drawing/2014/main" id="{8C68229E-F166-3A78-E270-A86F85762D76}"/>
              </a:ext>
            </a:extLst>
          </p:cNvPr>
          <p:cNvPicPr>
            <a:picLocks noGrp="1" noChangeAspect="1"/>
          </p:cNvPicPr>
          <p:nvPr>
            <p:ph idx="1"/>
          </p:nvPr>
        </p:nvPicPr>
        <p:blipFill>
          <a:blip r:embed="rId2"/>
          <a:stretch>
            <a:fillRect/>
          </a:stretch>
        </p:blipFill>
        <p:spPr>
          <a:xfrm>
            <a:off x="839476" y="2065867"/>
            <a:ext cx="10416128" cy="3533655"/>
          </a:xfrm>
          <a:prstGeom prst="rect">
            <a:avLst/>
          </a:prstGeom>
        </p:spPr>
      </p:pic>
    </p:spTree>
    <p:extLst>
      <p:ext uri="{BB962C8B-B14F-4D97-AF65-F5344CB8AC3E}">
        <p14:creationId xmlns:p14="http://schemas.microsoft.com/office/powerpoint/2010/main" val="960441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2AC49-8125-84F1-9D36-11DF0308B0B0}"/>
              </a:ext>
            </a:extLst>
          </p:cNvPr>
          <p:cNvSpPr>
            <a:spLocks noGrp="1"/>
          </p:cNvSpPr>
          <p:nvPr>
            <p:ph type="title"/>
          </p:nvPr>
        </p:nvSpPr>
        <p:spPr/>
        <p:txBody>
          <a:bodyPr/>
          <a:lstStyle/>
          <a:p>
            <a:r>
              <a:rPr lang="en-US" dirty="0"/>
              <a:t>Estimator </a:t>
            </a:r>
          </a:p>
        </p:txBody>
      </p:sp>
      <p:sp>
        <p:nvSpPr>
          <p:cNvPr id="3" name="Content Placeholder 2">
            <a:extLst>
              <a:ext uri="{FF2B5EF4-FFF2-40B4-BE49-F238E27FC236}">
                <a16:creationId xmlns:a16="http://schemas.microsoft.com/office/drawing/2014/main" id="{33BEFA0B-98C4-DD87-8A40-B794EA4E8157}"/>
              </a:ext>
            </a:extLst>
          </p:cNvPr>
          <p:cNvSpPr>
            <a:spLocks noGrp="1"/>
          </p:cNvSpPr>
          <p:nvPr>
            <p:ph idx="1"/>
          </p:nvPr>
        </p:nvSpPr>
        <p:spPr/>
        <p:txBody>
          <a:bodyPr/>
          <a:lstStyle/>
          <a:p>
            <a:r>
              <a:rPr lang="en-US" dirty="0"/>
              <a:t>The sklearn.linear_model.LinearRegression class is an </a:t>
            </a:r>
            <a:r>
              <a:rPr lang="en-US" b="1" dirty="0"/>
              <a:t>estimator</a:t>
            </a:r>
            <a:r>
              <a:rPr lang="en-US" dirty="0"/>
              <a:t>. Estimators predict a value based on the observed data. In scikit-learn, all estimators implement the fit() and predict() methods. The former method is used to learn the parameters of a model, and the latter method is used to predict the value of a response variable for an explanatory variable using the learned parameters. It is easy to experiment with different models using scikit-learn because all estimators implement the fit and predict methods.</a:t>
            </a:r>
          </a:p>
        </p:txBody>
      </p:sp>
    </p:spTree>
    <p:extLst>
      <p:ext uri="{BB962C8B-B14F-4D97-AF65-F5344CB8AC3E}">
        <p14:creationId xmlns:p14="http://schemas.microsoft.com/office/powerpoint/2010/main" val="154291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F6962-3EB6-BE8B-DD77-77868AC6C503}"/>
              </a:ext>
            </a:extLst>
          </p:cNvPr>
          <p:cNvSpPr>
            <a:spLocks noGrp="1"/>
          </p:cNvSpPr>
          <p:nvPr>
            <p:ph type="title"/>
          </p:nvPr>
        </p:nvSpPr>
        <p:spPr/>
        <p:txBody>
          <a:bodyPr/>
          <a:lstStyle/>
          <a:p>
            <a:r>
              <a:rPr lang="en-US" dirty="0"/>
              <a:t>Cost function/loss function</a:t>
            </a:r>
          </a:p>
        </p:txBody>
      </p:sp>
      <p:sp>
        <p:nvSpPr>
          <p:cNvPr id="3" name="Content Placeholder 2">
            <a:extLst>
              <a:ext uri="{FF2B5EF4-FFF2-40B4-BE49-F238E27FC236}">
                <a16:creationId xmlns:a16="http://schemas.microsoft.com/office/drawing/2014/main" id="{0631D8B0-B1F2-9642-FA68-8D3CEECA5C7D}"/>
              </a:ext>
            </a:extLst>
          </p:cNvPr>
          <p:cNvSpPr>
            <a:spLocks noGrp="1"/>
          </p:cNvSpPr>
          <p:nvPr>
            <p:ph idx="1"/>
          </p:nvPr>
        </p:nvSpPr>
        <p:spPr>
          <a:xfrm>
            <a:off x="685801" y="2142067"/>
            <a:ext cx="10131425" cy="4221026"/>
          </a:xfrm>
        </p:spPr>
        <p:txBody>
          <a:bodyPr>
            <a:normAutofit/>
          </a:bodyPr>
          <a:lstStyle/>
          <a:p>
            <a:r>
              <a:rPr lang="en-US" dirty="0"/>
              <a:t>A </a:t>
            </a:r>
            <a:r>
              <a:rPr lang="en-US" b="1" dirty="0"/>
              <a:t>cost function</a:t>
            </a:r>
            <a:r>
              <a:rPr lang="en-US" dirty="0"/>
              <a:t>, also called a </a:t>
            </a:r>
            <a:r>
              <a:rPr lang="en-US" b="1" dirty="0"/>
              <a:t>loss function, </a:t>
            </a:r>
            <a:r>
              <a:rPr lang="en-US" dirty="0"/>
              <a:t>is used to define and measure the error of a model</a:t>
            </a:r>
          </a:p>
          <a:p>
            <a:r>
              <a:rPr lang="en-US" dirty="0"/>
              <a:t>The differences between the prices predicted by the model and the observed prices of the pizzas in the training set are called </a:t>
            </a:r>
            <a:r>
              <a:rPr lang="en-US" b="1" dirty="0"/>
              <a:t>residuals </a:t>
            </a:r>
            <a:r>
              <a:rPr lang="en-US" dirty="0"/>
              <a:t>or </a:t>
            </a:r>
            <a:r>
              <a:rPr lang="en-US" b="1" dirty="0"/>
              <a:t>training error</a:t>
            </a:r>
          </a:p>
          <a:p>
            <a:r>
              <a:rPr lang="en-US" dirty="0"/>
              <a:t>Also, recall that our goal is to solve the values of  and  that minimize the cost function. We will solve  first. To do so, we will calculate the </a:t>
            </a:r>
            <a:r>
              <a:rPr lang="en-US" b="1" dirty="0"/>
              <a:t>variance </a:t>
            </a:r>
            <a:r>
              <a:rPr lang="en-US" dirty="0"/>
              <a:t>of </a:t>
            </a:r>
            <a:r>
              <a:rPr lang="en-US" i="1" dirty="0"/>
              <a:t>x </a:t>
            </a:r>
            <a:r>
              <a:rPr lang="en-US" dirty="0"/>
              <a:t>and covariance</a:t>
            </a:r>
            <a:r>
              <a:rPr lang="en-US" b="1" dirty="0"/>
              <a:t> </a:t>
            </a:r>
            <a:r>
              <a:rPr lang="en-US" dirty="0"/>
              <a:t>of </a:t>
            </a:r>
            <a:r>
              <a:rPr lang="en-US" i="1" dirty="0"/>
              <a:t>x </a:t>
            </a:r>
            <a:r>
              <a:rPr lang="en-US" dirty="0"/>
              <a:t>and </a:t>
            </a:r>
            <a:r>
              <a:rPr lang="en-US" i="1" dirty="0"/>
              <a:t>y</a:t>
            </a:r>
            <a:r>
              <a:rPr lang="en-US" dirty="0"/>
              <a:t>.</a:t>
            </a:r>
          </a:p>
          <a:p>
            <a:r>
              <a:rPr lang="en-US" dirty="0"/>
              <a:t>Variance is a measure of how far a set of values is spread out. If all of the numbers in the set are equal, the variance of the set is zero. A small variance indicates that the numbers are near the mean of the set, while a set containing numbers that are far from the mean and each other will have a large variance</a:t>
            </a:r>
          </a:p>
          <a:p>
            <a:r>
              <a:rPr lang="en-US" dirty="0"/>
              <a:t>Covariance is a measure of how much two variables change together. If the value of the variables increase together, their covariance is positive. If one variable tends to increase while the other decreases, their covariance is negative. If there is no linear relationship between the two variables, their covariance will be equal to zero;</a:t>
            </a:r>
          </a:p>
          <a:p>
            <a:endParaRPr lang="en-US" b="1" dirty="0"/>
          </a:p>
          <a:p>
            <a:endParaRPr lang="en-US" dirty="0"/>
          </a:p>
        </p:txBody>
      </p:sp>
    </p:spTree>
    <p:extLst>
      <p:ext uri="{BB962C8B-B14F-4D97-AF65-F5344CB8AC3E}">
        <p14:creationId xmlns:p14="http://schemas.microsoft.com/office/powerpoint/2010/main" val="3083592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574F1-464D-BCDC-A93B-03C5F3498488}"/>
              </a:ext>
            </a:extLst>
          </p:cNvPr>
          <p:cNvSpPr>
            <a:spLocks noGrp="1"/>
          </p:cNvSpPr>
          <p:nvPr>
            <p:ph type="title"/>
          </p:nvPr>
        </p:nvSpPr>
        <p:spPr/>
        <p:txBody>
          <a:bodyPr/>
          <a:lstStyle/>
          <a:p>
            <a:r>
              <a:rPr lang="en-US" dirty="0"/>
              <a:t>R-squared</a:t>
            </a:r>
          </a:p>
        </p:txBody>
      </p:sp>
      <p:sp>
        <p:nvSpPr>
          <p:cNvPr id="3" name="Content Placeholder 2">
            <a:extLst>
              <a:ext uri="{FF2B5EF4-FFF2-40B4-BE49-F238E27FC236}">
                <a16:creationId xmlns:a16="http://schemas.microsoft.com/office/drawing/2014/main" id="{2216937C-BE08-A150-5DAC-BFC088D6BC50}"/>
              </a:ext>
            </a:extLst>
          </p:cNvPr>
          <p:cNvSpPr>
            <a:spLocks noGrp="1"/>
          </p:cNvSpPr>
          <p:nvPr>
            <p:ph idx="1"/>
          </p:nvPr>
        </p:nvSpPr>
        <p:spPr/>
        <p:txBody>
          <a:bodyPr>
            <a:normAutofit lnSpcReduction="10000"/>
          </a:bodyPr>
          <a:lstStyle/>
          <a:p>
            <a:r>
              <a:rPr lang="en-US" dirty="0"/>
              <a:t>R-squared measures how well the observed values of the response variables are predicted by the model. More concretely, r-squared is the proportion of the variance in the response variable that is explained by the model. An r-squared score of one indicates that the response variable can be predicted without any error using the mode</a:t>
            </a:r>
          </a:p>
          <a:p>
            <a:r>
              <a:rPr lang="en-US" b="1" dirty="0"/>
              <a:t>R-squared</a:t>
            </a:r>
            <a:r>
              <a:rPr lang="en-US" dirty="0"/>
              <a:t> (also known as the </a:t>
            </a:r>
            <a:r>
              <a:rPr lang="en-US" b="1" dirty="0"/>
              <a:t>Coefficient of Determination</a:t>
            </a:r>
            <a:r>
              <a:rPr lang="en-US" dirty="0"/>
              <a:t>) is a statistical measure that tells you how well your "line of best fit" actually matches your data.</a:t>
            </a:r>
          </a:p>
          <a:p>
            <a:r>
              <a:rPr lang="en-US" dirty="0"/>
              <a:t>In simple terms: </a:t>
            </a:r>
            <a:r>
              <a:rPr lang="en-US" b="1" dirty="0"/>
              <a:t>It measures the quality of your model.</a:t>
            </a:r>
          </a:p>
          <a:p>
            <a:r>
              <a:rPr lang="en-US" dirty="0"/>
              <a:t>R-squared is always a number between </a:t>
            </a:r>
            <a:r>
              <a:rPr lang="en-US" b="1" dirty="0"/>
              <a:t>0 and 1</a:t>
            </a:r>
            <a:r>
              <a:rPr lang="en-US" dirty="0"/>
              <a:t> (or 0% to 100%).</a:t>
            </a:r>
          </a:p>
          <a:p>
            <a:r>
              <a:rPr lang="en-US" b="1" dirty="0"/>
              <a:t>0 (0%):</a:t>
            </a:r>
            <a:r>
              <a:rPr lang="en-US" dirty="0"/>
              <a:t> Your model explains none of the variability. It’s essentially useless for prediction.</a:t>
            </a:r>
          </a:p>
          <a:p>
            <a:r>
              <a:rPr lang="en-US" b="1" dirty="0"/>
              <a:t>1 (100%):</a:t>
            </a:r>
            <a:r>
              <a:rPr lang="en-US" dirty="0"/>
              <a:t> Your model explains everything. The regression line passes perfectly through every single data point</a:t>
            </a:r>
          </a:p>
          <a:p>
            <a:endParaRPr lang="en-US" dirty="0"/>
          </a:p>
        </p:txBody>
      </p:sp>
    </p:spTree>
    <p:extLst>
      <p:ext uri="{BB962C8B-B14F-4D97-AF65-F5344CB8AC3E}">
        <p14:creationId xmlns:p14="http://schemas.microsoft.com/office/powerpoint/2010/main" val="692821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094A7-80BB-B864-CB42-DAAE0E1069F6}"/>
              </a:ext>
            </a:extLst>
          </p:cNvPr>
          <p:cNvSpPr>
            <a:spLocks noGrp="1"/>
          </p:cNvSpPr>
          <p:nvPr>
            <p:ph type="title"/>
          </p:nvPr>
        </p:nvSpPr>
        <p:spPr/>
        <p:txBody>
          <a:bodyPr/>
          <a:lstStyle/>
          <a:p>
            <a:r>
              <a:rPr lang="en-US" dirty="0"/>
              <a:t>Multiple regression</a:t>
            </a:r>
          </a:p>
        </p:txBody>
      </p:sp>
      <p:sp>
        <p:nvSpPr>
          <p:cNvPr id="7" name="Rectangle 2">
            <a:extLst>
              <a:ext uri="{FF2B5EF4-FFF2-40B4-BE49-F238E27FC236}">
                <a16:creationId xmlns:a16="http://schemas.microsoft.com/office/drawing/2014/main" id="{2C2255E9-96A6-4E08-2068-21F897708336}"/>
              </a:ext>
            </a:extLst>
          </p:cNvPr>
          <p:cNvSpPr>
            <a:spLocks noGrp="1" noChangeArrowheads="1"/>
          </p:cNvSpPr>
          <p:nvPr>
            <p:ph idx="1"/>
          </p:nvPr>
        </p:nvSpPr>
        <p:spPr bwMode="auto">
          <a:xfrm>
            <a:off x="537328" y="2691539"/>
            <a:ext cx="9790281" cy="87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Multiple Regression</a:t>
            </a:r>
            <a:r>
              <a:rPr kumimoji="0" lang="en-US" altLang="en-US" sz="1800" b="0" i="0" u="none" strike="noStrike" cap="none" normalizeH="0" baseline="0" dirty="0">
                <a:ln>
                  <a:noFill/>
                </a:ln>
                <a:solidFill>
                  <a:schemeClr val="tx1"/>
                </a:solidFill>
                <a:effectLst/>
              </a:rPr>
              <a:t> is the natural evolution of simple linear regression.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 While simple regression uses one independent variable  to predict an outcome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latin typeface="Google Sans Text"/>
              </a:rPr>
              <a:t>Multiple Regression</a:t>
            </a:r>
            <a:r>
              <a:rPr kumimoji="0" lang="en-US" altLang="en-US" sz="1800" b="0" i="0" u="none" strike="noStrike" cap="none" normalizeH="0" baseline="0" dirty="0">
                <a:ln>
                  <a:noFill/>
                </a:ln>
                <a:solidFill>
                  <a:schemeClr val="tx1"/>
                </a:solidFill>
                <a:effectLst/>
              </a:rPr>
              <a:t> uses two or more independent variables to explain a single dependent variable.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36C32FCA-CCFF-8D77-772C-AD10F3F52D7F}"/>
              </a:ext>
            </a:extLst>
          </p:cNvPr>
          <p:cNvPicPr>
            <a:picLocks noChangeAspect="1"/>
          </p:cNvPicPr>
          <p:nvPr/>
        </p:nvPicPr>
        <p:blipFill>
          <a:blip r:embed="rId2"/>
          <a:stretch>
            <a:fillRect/>
          </a:stretch>
        </p:blipFill>
        <p:spPr>
          <a:xfrm>
            <a:off x="685801" y="3672470"/>
            <a:ext cx="7340977" cy="2133710"/>
          </a:xfrm>
          <a:prstGeom prst="rect">
            <a:avLst/>
          </a:prstGeom>
        </p:spPr>
      </p:pic>
    </p:spTree>
    <p:extLst>
      <p:ext uri="{BB962C8B-B14F-4D97-AF65-F5344CB8AC3E}">
        <p14:creationId xmlns:p14="http://schemas.microsoft.com/office/powerpoint/2010/main" val="2571413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AA982-39B1-9C9A-8677-4D816432905B}"/>
              </a:ext>
            </a:extLst>
          </p:cNvPr>
          <p:cNvSpPr>
            <a:spLocks noGrp="1"/>
          </p:cNvSpPr>
          <p:nvPr>
            <p:ph type="title"/>
          </p:nvPr>
        </p:nvSpPr>
        <p:spPr/>
        <p:txBody>
          <a:bodyPr/>
          <a:lstStyle/>
          <a:p>
            <a:r>
              <a:rPr lang="en-US" dirty="0"/>
              <a:t>Polynomial regression</a:t>
            </a:r>
          </a:p>
        </p:txBody>
      </p:sp>
      <p:sp>
        <p:nvSpPr>
          <p:cNvPr id="3" name="Content Placeholder 2">
            <a:extLst>
              <a:ext uri="{FF2B5EF4-FFF2-40B4-BE49-F238E27FC236}">
                <a16:creationId xmlns:a16="http://schemas.microsoft.com/office/drawing/2014/main" id="{0D40A412-CF2F-B247-36B2-46BA3BDBC8AE}"/>
              </a:ext>
            </a:extLst>
          </p:cNvPr>
          <p:cNvSpPr>
            <a:spLocks noGrp="1"/>
          </p:cNvSpPr>
          <p:nvPr>
            <p:ph idx="1"/>
          </p:nvPr>
        </p:nvSpPr>
        <p:spPr/>
        <p:txBody>
          <a:bodyPr/>
          <a:lstStyle/>
          <a:p>
            <a:r>
              <a:rPr lang="en-US" dirty="0"/>
              <a:t>In the previous examples, we assumed that the real relationship between the explanatory variables and the response variable is linear. This assumption is not always true. </a:t>
            </a:r>
          </a:p>
          <a:p>
            <a:r>
              <a:rPr lang="en-US" dirty="0"/>
              <a:t>In this section, we will use </a:t>
            </a:r>
            <a:r>
              <a:rPr lang="en-US" b="1" dirty="0"/>
              <a:t>polynomial regression</a:t>
            </a:r>
            <a:r>
              <a:rPr lang="en-US" dirty="0"/>
              <a:t>, a special case of multiple linear regression that adds terms with degrees greater than one to the model.</a:t>
            </a:r>
          </a:p>
          <a:p>
            <a:r>
              <a:rPr lang="en-US" dirty="0"/>
              <a:t>The real-world curvilinear relationship is captured when you transform the training data by adding polynomial terms, which are then fit in the same manner as in multiple linear regression</a:t>
            </a:r>
          </a:p>
          <a:p>
            <a:r>
              <a:rPr lang="en-US" dirty="0"/>
              <a:t>Will use the </a:t>
            </a:r>
            <a:r>
              <a:rPr lang="en-US" b="1" dirty="0"/>
              <a:t>Quadratic regression</a:t>
            </a:r>
            <a:r>
              <a:rPr lang="en-US" dirty="0"/>
              <a:t>, or regression with a second order polynomial</a:t>
            </a:r>
          </a:p>
        </p:txBody>
      </p:sp>
    </p:spTree>
    <p:extLst>
      <p:ext uri="{BB962C8B-B14F-4D97-AF65-F5344CB8AC3E}">
        <p14:creationId xmlns:p14="http://schemas.microsoft.com/office/powerpoint/2010/main" val="40278269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{5A8D8271-6C2C-407A-95EF-0768A85510D9}TFb5ae2469-0bae-4978-b0e0-39dd046150ff9a115ede-a9c3cc5252b0</Template>
  <TotalTime>193</TotalTime>
  <Words>889</Words>
  <Application>Microsoft Office PowerPoint</Application>
  <PresentationFormat>Widescreen</PresentationFormat>
  <Paragraphs>38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Google Sans Text</vt:lpstr>
      <vt:lpstr>Celestial</vt:lpstr>
      <vt:lpstr>Regression </vt:lpstr>
      <vt:lpstr>Cont.</vt:lpstr>
      <vt:lpstr>TYPES OF REGRESSION</vt:lpstr>
      <vt:lpstr>Simple linear regression</vt:lpstr>
      <vt:lpstr>Cont.</vt:lpstr>
      <vt:lpstr>Estimator </vt:lpstr>
      <vt:lpstr>Cost function/loss function</vt:lpstr>
      <vt:lpstr>R-squared</vt:lpstr>
      <vt:lpstr>Multiple regression</vt:lpstr>
      <vt:lpstr>Polynomial regression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 likoba</dc:creator>
  <cp:lastModifiedBy>abdul likoba</cp:lastModifiedBy>
  <cp:revision>2</cp:revision>
  <dcterms:created xsi:type="dcterms:W3CDTF">2026-04-16T11:34:37Z</dcterms:created>
  <dcterms:modified xsi:type="dcterms:W3CDTF">2026-04-17T11:11:07Z</dcterms:modified>
</cp:coreProperties>
</file>